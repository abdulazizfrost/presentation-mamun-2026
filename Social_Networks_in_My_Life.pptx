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English Speech (Say this):</a:t>
            </a:r>
          </a:p>
          <a:p>
            <a:r>
              <a:t>Hello everyone! My name is Abdulaziz. Today I will talk about 'Social Networks in My Life'. We use social media every day to communicate, study, and relax. Let's see how they affect our lives.</a:t>
            </a:r>
          </a:p>
          <a:p/>
          <a:p>
            <a:r>
              <a:t>🇺🇿 O‘zbekcha matn:</a:t>
            </a:r>
          </a:p>
          <a:p>
            <a:r>
              <a:t>Assalomu alaykum! Mening ismim Abdulaziz. Bugun men 'Ijtimoiy tarmoqlar mening hayotimda' mavzusida gapirib beraman. Biz har kuni muloqot qilish, o‘qish va dam olish uchun tarmoqlardan foydalanamiz. Keling, ular hayotimizga qanday ta’sir qilishini ko‘rib chiqamiz.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English Speech (Say this):</a:t>
            </a:r>
          </a:p>
          <a:p>
            <a:r>
              <a:t>First, what are social networks? They are websites and apps where people connect, share information, and post content. Today, they are an important part of our daily life.</a:t>
            </a:r>
          </a:p>
          <a:p/>
          <a:p>
            <a:r>
              <a:t>🇺🇿 O‘zbekcha matn:</a:t>
            </a:r>
          </a:p>
          <a:p>
            <a:r>
              <a:t>Avvalo, ijtimoiy tarmoqlar nima? Bu odamlar muloqot qiladigan, ma’lumot va kontent ulashadigan saytlar hamda ilovalardir. Bugun ular kundalik hayotimizning muhim qismiga aylandi.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English Speech (Say this):</a:t>
            </a:r>
          </a:p>
          <a:p>
            <a:r>
              <a:t>Here are the main apps I use: First, Telegram — for quick messaging and study groups. Second, Instagram — for photos and creative reels. And third, YouTube — for learning video tutorials and relaxing.</a:t>
            </a:r>
          </a:p>
          <a:p/>
          <a:p>
            <a:r>
              <a:t>🇺🇿 O‘zbekcha matn:</a:t>
            </a:r>
          </a:p>
          <a:p>
            <a:r>
              <a:t>Men eng ko‘p foydalanadigan ilovalar: Birinchidan, Telegram — tezkor xabarlar va o‘quv guruhlari uchun. Ikkinchidan, Instagram — rasmlar va qiziqarli videolar uchun. Uchinchidan, YouTube — darslar o‘rganish va hordiq chiqarish uchun.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English Speech (Say this):</a:t>
            </a:r>
          </a:p>
          <a:p>
            <a:r>
              <a:t>Why do I use social networks? There are four main reasons: to stay in touch with friends, to read latest news, to learn new skills, and to relax after my studies.</a:t>
            </a:r>
          </a:p>
          <a:p/>
          <a:p>
            <a:r>
              <a:t>🇺🇿 O‘zbekcha matn:</a:t>
            </a:r>
          </a:p>
          <a:p>
            <a:r>
              <a:t>Nega ijtimoiy tarmoqlardan foydalanaman? To‘rtta asosiy sabab bor: do‘stlar bilan aloqada bo‘lish, yangiliklarni bilish, yangi narsalarni o‘rganish va darslardan keyin dam olish.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English Speech (Say this):</a:t>
            </a:r>
          </a:p>
          <a:p>
            <a:r>
              <a:t>Let's look at communication. Social networks make talking to people very fast and easy. Even if our friends live far away, we can send messages, photos, and make video calls in seconds.</a:t>
            </a:r>
          </a:p>
          <a:p/>
          <a:p>
            <a:r>
              <a:t>🇺🇿 O‘zbekcha matn:</a:t>
            </a:r>
          </a:p>
          <a:p>
            <a:r>
              <a:t>Muloqot haqida gapiradigan bo‘lsak, ijtimoiy tarmoqlar uni juda tez va oson qildi. Do‘stlarimiz uzoqda bo‘lsa ham, bir necha soniyada xabar yozishimiz, rasm yuborishimiz va video qo‘ng‘iroq qilishimiz mumkin.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English Speech (Say this):</a:t>
            </a:r>
          </a:p>
          <a:p>
            <a:r>
              <a:t>Next is education. Social networks are not just for fun — they are great for studying. We can watch free video lessons, learn English, and share study materials with classmates.</a:t>
            </a:r>
          </a:p>
          <a:p/>
          <a:p>
            <a:r>
              <a:t>🇺🇿 O‘zbekcha matn:</a:t>
            </a:r>
          </a:p>
          <a:p>
            <a:r>
              <a:t>Keyingisi — ta’lim. Ijtimoiy tarmoqlar faqat o‘yin-kulgi uchun emas, balki o‘qish uchun ham juda foydali. Biz bepul video darslarni ko‘rishimiz, ingliz tilini o‘rganishimiz va kursdoshlar bilan materiallar almashishimiz mumkin.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English Speech (Say this):</a:t>
            </a:r>
          </a:p>
          <a:p>
            <a:r>
              <a:t>Now about entertainment. In our free time, we listen to music and watch interesting videos to rest. But it is important to control our screen time and not scroll for too many hours.</a:t>
            </a:r>
          </a:p>
          <a:p/>
          <a:p>
            <a:r>
              <a:t>🇺🇿 O‘zbekcha matn:</a:t>
            </a:r>
          </a:p>
          <a:p>
            <a:r>
              <a:t>Endi esa dam olish haqida. Bo‘sh vaqtimizda hordiq chiqarish uchun musiqa tinglaymiz va videolar ko‘ramiz. Ammo me’yorni bilish va internetda soatlab vaqt yo‘qotmaslik muhim.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English Speech (Say this):</a:t>
            </a:r>
          </a:p>
          <a:p>
            <a:r>
              <a:t>Let's compare the pros and cons. The advantages are: easy communication, quick access to information, education, and entertainment. The disadvantages are: too much screen time, distraction, false information, and privacy problems.</a:t>
            </a:r>
          </a:p>
          <a:p/>
          <a:p>
            <a:r>
              <a:t>🇺🇿 O‘zbekcha matn:</a:t>
            </a:r>
          </a:p>
          <a:p>
            <a:r>
              <a:t>Afzalliklari va kamchiliklarini solishtiraylik. Afzalliklari — oson muloqot, ma’lumotga tez kirish, ta’lim va ko‘ngilochar imkoniyatlar. Kamchiliklari — ekran qarshisida ortiqcha vaqt, diqqatning chalg‘ishi, noto‘g‘ri ma’lumotlar va maxfiylik muammolari.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English Speech (Say this):</a:t>
            </a:r>
          </a:p>
          <a:p>
            <a:r>
              <a:t>To conclude: social networks are powerful tools if we use them wisely. They help us connect, learn, and relax. The key is to keep a healthy balance between our screens and real life. Thank you for your attention!</a:t>
            </a:r>
          </a:p>
          <a:p/>
          <a:p>
            <a:r>
              <a:t>🇺🇿 O‘zbekcha matn:</a:t>
            </a:r>
          </a:p>
          <a:p>
            <a:r>
              <a:t>Xulosa qilib aytganda: ijtimoiy tarmoqlar to‘g‘ri foydalanilsa, katta foyda keltiradi. Ular muloqot qilish, o‘rganish va dam olishga yordam beradi. Eng asosiysi — virtual olam va real hayot o‘rtasida muvozanatni saqlashdir. E’tiboringiz uchun rahmat!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E1A"/>
        </a:solidFill>
        <a:effectLst/>
      </p:bgPr>
    </p:bg>
    <p:spTree>
      <p:nvGrpSpPr>
        <p:cNvPr id="1" name=""/>
        <p:cNvGrpSpPr/>
        <p:nvPr/>
      </p:nvGrpSpPr>
      <p:grpSpPr/>
      <p:sp>
        <p:nvSpPr>
          <p:cNvPr id="2" name="TextBox 1"/>
          <p:cNvSpPr txBox="1"/>
          <p:nvPr/>
        </p:nvSpPr>
        <p:spPr>
          <a:xfrm>
            <a:off x="914400" y="1188720"/>
            <a:ext cx="5943600" cy="4754880"/>
          </a:xfrm>
          <a:prstGeom prst="rect">
            <a:avLst/>
          </a:prstGeom>
          <a:noFill/>
        </p:spPr>
        <p:txBody>
          <a:bodyPr wrap="square" lIns="0" tIns="0" rIns="0" bIns="0">
            <a:spAutoFit/>
          </a:bodyPr>
          <a:lstStyle/>
          <a:p>
            <a:pPr>
              <a:spcAft>
                <a:spcPts val="2000"/>
              </a:spcAft>
              <a:defRPr sz="1100" b="1">
                <a:solidFill>
                  <a:srgbClr val="38BDF8"/>
                </a:solidFill>
                <a:latin typeface="Segoe UI"/>
              </a:defRPr>
            </a:pPr>
            <a:r>
              <a:t>DIGITAL LIFE · UNIVERSITY PRESENTATION</a:t>
            </a:r>
          </a:p>
          <a:p>
            <a:pPr>
              <a:spcAft>
                <a:spcPts val="800"/>
              </a:spcAft>
              <a:defRPr sz="4800" b="1">
                <a:solidFill>
                  <a:srgbClr val="FFFFFF"/>
                </a:solidFill>
                <a:latin typeface="Segoe UI"/>
              </a:defRPr>
            </a:pPr>
            <a:r>
              <a:t>Social Networks</a:t>
            </a:r>
            <a:br/>
            <a:r>
              <a:t>in My Life</a:t>
            </a:r>
          </a:p>
          <a:p>
            <a:pPr>
              <a:spcAft>
                <a:spcPts val="2800"/>
              </a:spcAft>
              <a:defRPr sz="2400" i="1">
                <a:solidFill>
                  <a:srgbClr val="22D3EE"/>
                </a:solidFill>
                <a:latin typeface="Segoe UI"/>
              </a:defRPr>
            </a:pPr>
            <a:r>
              <a:t>Ijtimoiy tarmoqlar mening hayotimda</a:t>
            </a:r>
          </a:p>
          <a:p>
            <a:pPr>
              <a:spcAft>
                <a:spcPts val="400"/>
              </a:spcAft>
              <a:defRPr sz="1600" b="1">
                <a:solidFill>
                  <a:srgbClr val="E2E8F0"/>
                </a:solidFill>
                <a:latin typeface="Segoe UI"/>
              </a:defRPr>
            </a:pPr>
            <a:r>
              <a:t>How social media shapes the way we communicate, learn and live</a:t>
            </a:r>
          </a:p>
          <a:p>
            <a:pPr>
              <a:spcAft>
                <a:spcPts val="3600"/>
              </a:spcAft>
              <a:defRPr sz="1300" i="1">
                <a:solidFill>
                  <a:srgbClr val="94A3B8"/>
                </a:solidFill>
                <a:latin typeface="Segoe UI"/>
              </a:defRPr>
            </a:pPr>
            <a:r>
              <a:t>Ijtimoiy tarmoqlar muloqot, ta’lim va turmush tarzimizni qanday shakllantiradi</a:t>
            </a:r>
          </a:p>
          <a:p>
            <a:pPr>
              <a:defRPr sz="1100">
                <a:solidFill>
                  <a:srgbClr val="64748B"/>
                </a:solidFill>
                <a:latin typeface="Segoe UI"/>
              </a:defRPr>
            </a:pPr>
            <a:r>
              <a:t>Abdulaziz   •   Ma’mun University   •   2026</a:t>
            </a:r>
          </a:p>
        </p:txBody>
      </p:sp>
      <p:pic>
        <p:nvPicPr>
          <p:cNvPr id="3" name="Picture 2" descr="hero_phone.png"/>
          <p:cNvPicPr>
            <a:picLocks noChangeAspect="1"/>
          </p:cNvPicPr>
          <p:nvPr/>
        </p:nvPicPr>
        <p:blipFill>
          <a:blip r:embed="rId2"/>
          <a:stretch>
            <a:fillRect/>
          </a:stretch>
        </p:blipFill>
        <p:spPr>
          <a:xfrm>
            <a:off x="6858000" y="365760"/>
            <a:ext cx="4774941" cy="6126480"/>
          </a:xfrm>
          <a:prstGeom prst="rect">
            <a:avLst/>
          </a:prstGeom>
        </p:spPr>
      </p:pic>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E1A"/>
        </a:solidFill>
        <a:effectLst/>
      </p:bgPr>
    </p:bg>
    <p:spTree>
      <p:nvGrpSpPr>
        <p:cNvPr id="1" name=""/>
        <p:cNvGrpSpPr/>
        <p:nvPr/>
      </p:nvGrpSpPr>
      <p:grpSpPr/>
      <p:sp>
        <p:nvSpPr>
          <p:cNvPr id="2" name="TextBox 1"/>
          <p:cNvSpPr txBox="1"/>
          <p:nvPr/>
        </p:nvSpPr>
        <p:spPr>
          <a:xfrm>
            <a:off x="822960" y="384048"/>
            <a:ext cx="7315200" cy="274320"/>
          </a:xfrm>
          <a:prstGeom prst="rect">
            <a:avLst/>
          </a:prstGeom>
          <a:noFill/>
        </p:spPr>
        <p:txBody>
          <a:bodyPr wrap="square" lIns="0" tIns="0" rIns="0" bIns="0">
            <a:spAutoFit/>
          </a:bodyPr>
          <a:lstStyle/>
          <a:p>
            <a:pPr>
              <a:defRPr sz="1000" b="1">
                <a:solidFill>
                  <a:srgbClr val="38BDF8"/>
                </a:solidFill>
                <a:latin typeface="Segoe UI"/>
              </a:defRPr>
            </a:pPr>
            <a:r>
              <a:t>UNIVERSITY PRESENTATION (EN / UZ) • SLIDE 02 OF 09</a:t>
            </a:r>
          </a:p>
        </p:txBody>
      </p:sp>
      <p:sp>
        <p:nvSpPr>
          <p:cNvPr id="3" name="TextBox 2"/>
          <p:cNvSpPr txBox="1"/>
          <p:nvPr/>
        </p:nvSpPr>
        <p:spPr>
          <a:xfrm>
            <a:off x="822960" y="658368"/>
            <a:ext cx="10545775" cy="804672"/>
          </a:xfrm>
          <a:prstGeom prst="rect">
            <a:avLst/>
          </a:prstGeom>
          <a:noFill/>
        </p:spPr>
        <p:txBody>
          <a:bodyPr wrap="square" lIns="0" tIns="0" rIns="0" bIns="0">
            <a:spAutoFit/>
          </a:bodyPr>
          <a:lstStyle/>
          <a:p>
            <a:pPr>
              <a:spcAft>
                <a:spcPts val="200"/>
              </a:spcAft>
              <a:defRPr sz="2400" b="1">
                <a:solidFill>
                  <a:srgbClr val="FFFFFF"/>
                </a:solidFill>
                <a:latin typeface="Segoe UI"/>
              </a:defRPr>
            </a:pPr>
            <a:r>
              <a:t>What Are Social Networks?</a:t>
            </a:r>
          </a:p>
          <a:p>
            <a:pPr>
              <a:defRPr sz="1400" i="1">
                <a:solidFill>
                  <a:srgbClr val="22D3EE"/>
                </a:solidFill>
                <a:latin typeface="Segoe UI"/>
              </a:defRPr>
            </a:pPr>
            <a:r>
              <a:t>Ijtimoiy tarmoqlar nima?</a:t>
            </a:r>
          </a:p>
        </p:txBody>
      </p:sp>
      <p:sp>
        <p:nvSpPr>
          <p:cNvPr id="4" name="Rectangle 3"/>
          <p:cNvSpPr/>
          <p:nvPr/>
        </p:nvSpPr>
        <p:spPr>
          <a:xfrm>
            <a:off x="822960" y="1536192"/>
            <a:ext cx="10545775" cy="13716"/>
          </a:xfrm>
          <a:prstGeom prst="rect">
            <a:avLst/>
          </a:prstGeom>
          <a:solidFill>
            <a:srgbClr val="1E2941"/>
          </a:solidFill>
          <a:ln>
            <a:solidFill>
              <a:srgbClr val="1E2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645920"/>
            <a:ext cx="5120640" cy="484632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137160"/>
          <a:lstStyle/>
          <a:p>
            <a:pPr algn="ctr">
              <a:spcAft>
                <a:spcPts val="500"/>
              </a:spcAft>
              <a:defRPr sz="1500" b="1">
                <a:solidFill>
                  <a:srgbClr val="FFFFFF"/>
                </a:solidFill>
                <a:latin typeface="Segoe UI"/>
              </a:defRPr>
            </a:pPr>
            <a:r>
              <a:t>Social networks are online platforms where people can communicate, share information and create content. They have become an important part of modern life.</a:t>
            </a:r>
          </a:p>
          <a:p>
            <a:pPr>
              <a:spcAft>
                <a:spcPts val="1600"/>
              </a:spcAft>
              <a:defRPr sz="1150" i="1">
                <a:solidFill>
                  <a:srgbClr val="94A3B8"/>
                </a:solidFill>
                <a:latin typeface="Segoe UI"/>
              </a:defRPr>
            </a:pPr>
            <a:r>
              <a:t>Ijtimoiy tarmoqlar — odamlar muloqot qilishi, ma’lumot almashishi va kontent yaratishi mumkin bo‘lgan onlayn platformalardir. Ular zamonaviy hayotning muhim qismiga aylandi.</a:t>
            </a:r>
          </a:p>
          <a:p>
            <a:pPr>
              <a:spcAft>
                <a:spcPts val="100"/>
              </a:spcAft>
              <a:defRPr sz="1350" b="1">
                <a:solidFill>
                  <a:srgbClr val="38BDF8"/>
                </a:solidFill>
                <a:latin typeface="Segoe UI"/>
              </a:defRPr>
            </a:pPr>
            <a:r>
              <a:t>1. Communication</a:t>
            </a:r>
          </a:p>
          <a:p>
            <a:pPr>
              <a:spcAft>
                <a:spcPts val="800"/>
              </a:spcAft>
              <a:defRPr sz="1050" i="1">
                <a:solidFill>
                  <a:srgbClr val="94A3B8"/>
                </a:solidFill>
                <a:latin typeface="Segoe UI"/>
              </a:defRPr>
            </a:pPr>
            <a:r>
              <a:t>   Muloqot — connecting instantly with friends and family</a:t>
            </a:r>
          </a:p>
          <a:p>
            <a:pPr>
              <a:spcAft>
                <a:spcPts val="100"/>
              </a:spcAft>
              <a:defRPr sz="1350" b="1">
                <a:solidFill>
                  <a:srgbClr val="22D3EE"/>
                </a:solidFill>
                <a:latin typeface="Segoe UI"/>
              </a:defRPr>
            </a:pPr>
            <a:r>
              <a:t>2. Information</a:t>
            </a:r>
          </a:p>
          <a:p>
            <a:pPr>
              <a:spcAft>
                <a:spcPts val="800"/>
              </a:spcAft>
              <a:defRPr sz="1050" i="1">
                <a:solidFill>
                  <a:srgbClr val="94A3B8"/>
                </a:solidFill>
                <a:latin typeface="Segoe UI"/>
              </a:defRPr>
            </a:pPr>
            <a:r>
              <a:t>   Ma’lumot — accessing news, updates and global awareness</a:t>
            </a:r>
          </a:p>
          <a:p>
            <a:pPr>
              <a:spcAft>
                <a:spcPts val="100"/>
              </a:spcAft>
              <a:defRPr sz="1350" b="1">
                <a:solidFill>
                  <a:srgbClr val="A855F7"/>
                </a:solidFill>
                <a:latin typeface="Segoe UI"/>
              </a:defRPr>
            </a:pPr>
            <a:r>
              <a:t>3. Content sharing</a:t>
            </a:r>
          </a:p>
          <a:p>
            <a:pPr>
              <a:defRPr sz="1050" i="1">
                <a:solidFill>
                  <a:srgbClr val="94A3B8"/>
                </a:solidFill>
                <a:latin typeface="Segoe UI"/>
              </a:defRPr>
            </a:pPr>
            <a:r>
              <a:t>   Kontent almashish — publishing creative photos, videos and ideas</a:t>
            </a:r>
          </a:p>
        </p:txBody>
      </p:sp>
      <p:pic>
        <p:nvPicPr>
          <p:cNvPr id="6" name="Picture 5" descr="network_visual.png"/>
          <p:cNvPicPr>
            <a:picLocks noChangeAspect="1"/>
          </p:cNvPicPr>
          <p:nvPr/>
        </p:nvPicPr>
        <p:blipFill>
          <a:blip r:embed="rId2"/>
          <a:stretch>
            <a:fillRect/>
          </a:stretch>
        </p:blipFill>
        <p:spPr>
          <a:xfrm>
            <a:off x="6217920" y="1645920"/>
            <a:ext cx="5120640" cy="3840480"/>
          </a:xfrm>
          <a:prstGeom prst="rect">
            <a:avLst/>
          </a:prstGeom>
        </p:spPr>
      </p:pic>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E1A"/>
        </a:solidFill>
        <a:effectLst/>
      </p:bgPr>
    </p:bg>
    <p:spTree>
      <p:nvGrpSpPr>
        <p:cNvPr id="1" name=""/>
        <p:cNvGrpSpPr/>
        <p:nvPr/>
      </p:nvGrpSpPr>
      <p:grpSpPr/>
      <p:sp>
        <p:nvSpPr>
          <p:cNvPr id="2" name="TextBox 1"/>
          <p:cNvSpPr txBox="1"/>
          <p:nvPr/>
        </p:nvSpPr>
        <p:spPr>
          <a:xfrm>
            <a:off x="822960" y="384048"/>
            <a:ext cx="7315200" cy="274320"/>
          </a:xfrm>
          <a:prstGeom prst="rect">
            <a:avLst/>
          </a:prstGeom>
          <a:noFill/>
        </p:spPr>
        <p:txBody>
          <a:bodyPr wrap="square" lIns="0" tIns="0" rIns="0" bIns="0">
            <a:spAutoFit/>
          </a:bodyPr>
          <a:lstStyle/>
          <a:p>
            <a:pPr>
              <a:defRPr sz="1000" b="1">
                <a:solidFill>
                  <a:srgbClr val="38BDF8"/>
                </a:solidFill>
                <a:latin typeface="Segoe UI"/>
              </a:defRPr>
            </a:pPr>
            <a:r>
              <a:t>UNIVERSITY PRESENTATION (EN / UZ) • SLIDE 03 OF 09</a:t>
            </a:r>
          </a:p>
        </p:txBody>
      </p:sp>
      <p:sp>
        <p:nvSpPr>
          <p:cNvPr id="3" name="TextBox 2"/>
          <p:cNvSpPr txBox="1"/>
          <p:nvPr/>
        </p:nvSpPr>
        <p:spPr>
          <a:xfrm>
            <a:off x="822960" y="658368"/>
            <a:ext cx="10545775" cy="804672"/>
          </a:xfrm>
          <a:prstGeom prst="rect">
            <a:avLst/>
          </a:prstGeom>
          <a:noFill/>
        </p:spPr>
        <p:txBody>
          <a:bodyPr wrap="square" lIns="0" tIns="0" rIns="0" bIns="0">
            <a:spAutoFit/>
          </a:bodyPr>
          <a:lstStyle/>
          <a:p>
            <a:pPr>
              <a:spcAft>
                <a:spcPts val="200"/>
              </a:spcAft>
              <a:defRPr sz="2400" b="1">
                <a:solidFill>
                  <a:srgbClr val="FFFFFF"/>
                </a:solidFill>
                <a:latin typeface="Segoe UI"/>
              </a:defRPr>
            </a:pPr>
            <a:r>
              <a:t>Social Networks I Use</a:t>
            </a:r>
          </a:p>
          <a:p>
            <a:pPr>
              <a:defRPr sz="1400" i="1">
                <a:solidFill>
                  <a:srgbClr val="22D3EE"/>
                </a:solidFill>
                <a:latin typeface="Segoe UI"/>
              </a:defRPr>
            </a:pPr>
            <a:r>
              <a:t>Men foydalanadigan ijtimoiy tarmoqlar</a:t>
            </a:r>
          </a:p>
        </p:txBody>
      </p:sp>
      <p:sp>
        <p:nvSpPr>
          <p:cNvPr id="4" name="Rectangle 3"/>
          <p:cNvSpPr/>
          <p:nvPr/>
        </p:nvSpPr>
        <p:spPr>
          <a:xfrm>
            <a:off x="822960" y="1536192"/>
            <a:ext cx="10545775" cy="13716"/>
          </a:xfrm>
          <a:prstGeom prst="rect">
            <a:avLst/>
          </a:prstGeom>
          <a:solidFill>
            <a:srgbClr val="1E2941"/>
          </a:solidFill>
          <a:ln>
            <a:solidFill>
              <a:srgbClr val="1E2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645920"/>
            <a:ext cx="4846320" cy="484632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137160"/>
          <a:lstStyle/>
          <a:p>
            <a:pPr algn="ctr">
              <a:spcAft>
                <a:spcPts val="800"/>
              </a:spcAft>
              <a:defRPr sz="950" b="1">
                <a:solidFill>
                  <a:srgbClr val="38BDF8"/>
                </a:solidFill>
                <a:latin typeface="Segoe UI"/>
              </a:defRPr>
            </a:pPr>
            <a:r>
              <a:t>POPULAR STUDENT PLATFORMS</a:t>
            </a:r>
          </a:p>
          <a:p>
            <a:pPr>
              <a:spcAft>
                <a:spcPts val="500"/>
              </a:spcAft>
              <a:defRPr sz="1450" b="1">
                <a:solidFill>
                  <a:srgbClr val="FFFFFF"/>
                </a:solidFill>
                <a:latin typeface="Segoe UI"/>
              </a:defRPr>
            </a:pPr>
            <a:r>
              <a:t>Students commonly rely on several established platforms for their daily routines, studies, and creative expression.</a:t>
            </a:r>
          </a:p>
          <a:p>
            <a:pPr>
              <a:spcAft>
                <a:spcPts val="1400"/>
              </a:spcAft>
              <a:defRPr sz="1100" i="1">
                <a:solidFill>
                  <a:srgbClr val="94A3B8"/>
                </a:solidFill>
                <a:latin typeface="Segoe UI"/>
              </a:defRPr>
            </a:pPr>
            <a:r>
              <a:t>Talabalar o‘zlarining kundalik faoliyati, ta’limi va ijodiy intilishlarida bir nechta asosiy platformalardan foydalanadilar.</a:t>
            </a:r>
          </a:p>
          <a:p>
            <a:pPr>
              <a:spcAft>
                <a:spcPts val="100"/>
              </a:spcAft>
              <a:defRPr sz="1200" b="1">
                <a:solidFill>
                  <a:srgbClr val="FFFFFF"/>
                </a:solidFill>
                <a:latin typeface="Segoe UI"/>
              </a:defRPr>
            </a:pPr>
            <a:r>
              <a:t>• Telegram — communication and useful information</a:t>
            </a:r>
          </a:p>
          <a:p>
            <a:pPr>
              <a:spcAft>
                <a:spcPts val="600"/>
              </a:spcAft>
              <a:defRPr sz="1000" i="1">
                <a:solidFill>
                  <a:srgbClr val="94A3B8"/>
                </a:solidFill>
                <a:latin typeface="Segoe UI"/>
              </a:defRPr>
            </a:pPr>
            <a:r>
              <a:t>   muloqot va foydali ma’lumotlar uchun</a:t>
            </a:r>
          </a:p>
          <a:p>
            <a:pPr>
              <a:spcAft>
                <a:spcPts val="100"/>
              </a:spcAft>
              <a:defRPr sz="1200" b="1">
                <a:solidFill>
                  <a:srgbClr val="FFFFFF"/>
                </a:solidFill>
                <a:latin typeface="Segoe UI"/>
              </a:defRPr>
            </a:pPr>
            <a:r>
              <a:t>• Instagram — photos, videos and creative content</a:t>
            </a:r>
          </a:p>
          <a:p>
            <a:pPr>
              <a:spcAft>
                <a:spcPts val="600"/>
              </a:spcAft>
              <a:defRPr sz="1000" i="1">
                <a:solidFill>
                  <a:srgbClr val="94A3B8"/>
                </a:solidFill>
                <a:latin typeface="Segoe UI"/>
              </a:defRPr>
            </a:pPr>
            <a:r>
              <a:t>   fotosuratlar, videolar va ijodiy kontent uchun</a:t>
            </a:r>
          </a:p>
          <a:p>
            <a:pPr>
              <a:spcAft>
                <a:spcPts val="100"/>
              </a:spcAft>
              <a:defRPr sz="1200" b="1">
                <a:solidFill>
                  <a:srgbClr val="FFFFFF"/>
                </a:solidFill>
                <a:latin typeface="Segoe UI"/>
              </a:defRPr>
            </a:pPr>
            <a:r>
              <a:t>• YouTube — education and entertainment</a:t>
            </a:r>
          </a:p>
          <a:p>
            <a:pPr>
              <a:spcAft>
                <a:spcPts val="600"/>
              </a:spcAft>
              <a:defRPr sz="1000" i="1">
                <a:solidFill>
                  <a:srgbClr val="94A3B8"/>
                </a:solidFill>
                <a:latin typeface="Segoe UI"/>
              </a:defRPr>
            </a:pPr>
            <a:r>
              <a:t>   ta’lim va ko‘ngilochar kontent uchun</a:t>
            </a:r>
          </a:p>
        </p:txBody>
      </p:sp>
      <p:pic>
        <p:nvPicPr>
          <p:cNvPr id="6" name="Picture 5" descr="platforms_visual.png"/>
          <p:cNvPicPr>
            <a:picLocks noChangeAspect="1"/>
          </p:cNvPicPr>
          <p:nvPr/>
        </p:nvPicPr>
        <p:blipFill>
          <a:blip r:embed="rId2"/>
          <a:stretch>
            <a:fillRect/>
          </a:stretch>
        </p:blipFill>
        <p:spPr>
          <a:xfrm>
            <a:off x="5943600" y="1645920"/>
            <a:ext cx="5394960" cy="4046220"/>
          </a:xfrm>
          <a:prstGeom prst="rect">
            <a:avLst/>
          </a:prstGeom>
        </p:spPr>
      </p:pic>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E1A"/>
        </a:solidFill>
        <a:effectLst/>
      </p:bgPr>
    </p:bg>
    <p:spTree>
      <p:nvGrpSpPr>
        <p:cNvPr id="1" name=""/>
        <p:cNvGrpSpPr/>
        <p:nvPr/>
      </p:nvGrpSpPr>
      <p:grpSpPr/>
      <p:sp>
        <p:nvSpPr>
          <p:cNvPr id="2" name="TextBox 1"/>
          <p:cNvSpPr txBox="1"/>
          <p:nvPr/>
        </p:nvSpPr>
        <p:spPr>
          <a:xfrm>
            <a:off x="822960" y="384048"/>
            <a:ext cx="7315200" cy="274320"/>
          </a:xfrm>
          <a:prstGeom prst="rect">
            <a:avLst/>
          </a:prstGeom>
          <a:noFill/>
        </p:spPr>
        <p:txBody>
          <a:bodyPr wrap="square" lIns="0" tIns="0" rIns="0" bIns="0">
            <a:spAutoFit/>
          </a:bodyPr>
          <a:lstStyle/>
          <a:p>
            <a:pPr>
              <a:defRPr sz="1000" b="1">
                <a:solidFill>
                  <a:srgbClr val="38BDF8"/>
                </a:solidFill>
                <a:latin typeface="Segoe UI"/>
              </a:defRPr>
            </a:pPr>
            <a:r>
              <a:t>UNIVERSITY PRESENTATION (EN / UZ) • SLIDE 04 OF 09</a:t>
            </a:r>
          </a:p>
        </p:txBody>
      </p:sp>
      <p:sp>
        <p:nvSpPr>
          <p:cNvPr id="3" name="TextBox 2"/>
          <p:cNvSpPr txBox="1"/>
          <p:nvPr/>
        </p:nvSpPr>
        <p:spPr>
          <a:xfrm>
            <a:off x="822960" y="658368"/>
            <a:ext cx="10545775" cy="804672"/>
          </a:xfrm>
          <a:prstGeom prst="rect">
            <a:avLst/>
          </a:prstGeom>
          <a:noFill/>
        </p:spPr>
        <p:txBody>
          <a:bodyPr wrap="square" lIns="0" tIns="0" rIns="0" bIns="0">
            <a:spAutoFit/>
          </a:bodyPr>
          <a:lstStyle/>
          <a:p>
            <a:pPr>
              <a:spcAft>
                <a:spcPts val="200"/>
              </a:spcAft>
              <a:defRPr sz="2400" b="1">
                <a:solidFill>
                  <a:srgbClr val="FFFFFF"/>
                </a:solidFill>
                <a:latin typeface="Segoe UI"/>
              </a:defRPr>
            </a:pPr>
            <a:r>
              <a:t>Why Do I Use Social Networks?</a:t>
            </a:r>
          </a:p>
          <a:p>
            <a:pPr>
              <a:defRPr sz="1400" i="1">
                <a:solidFill>
                  <a:srgbClr val="22D3EE"/>
                </a:solidFill>
                <a:latin typeface="Segoe UI"/>
              </a:defRPr>
            </a:pPr>
            <a:r>
              <a:t>Nega ijtimoiy tarmoqlardan foydalanaman?</a:t>
            </a:r>
          </a:p>
        </p:txBody>
      </p:sp>
      <p:sp>
        <p:nvSpPr>
          <p:cNvPr id="4" name="Rectangle 3"/>
          <p:cNvSpPr/>
          <p:nvPr/>
        </p:nvSpPr>
        <p:spPr>
          <a:xfrm>
            <a:off x="822960" y="1536192"/>
            <a:ext cx="10545775" cy="13716"/>
          </a:xfrm>
          <a:prstGeom prst="rect">
            <a:avLst/>
          </a:prstGeom>
          <a:solidFill>
            <a:srgbClr val="1E2941"/>
          </a:solidFill>
          <a:ln>
            <a:solidFill>
              <a:srgbClr val="1E2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691640"/>
            <a:ext cx="10545775" cy="12801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82880"/>
          <a:lstStyle/>
          <a:p>
            <a:pPr algn="ctr">
              <a:spcAft>
                <a:spcPts val="400"/>
              </a:spcAft>
              <a:defRPr sz="1550" b="1">
                <a:solidFill>
                  <a:srgbClr val="FFFFFF"/>
                </a:solidFill>
                <a:latin typeface="Segoe UI"/>
              </a:defRPr>
            </a:pPr>
            <a:r>
              <a:t>I use social networks for several reasons. They help me communicate with other people, find useful information, learn new things and relax in my free time.</a:t>
            </a:r>
          </a:p>
          <a:p>
            <a:pPr>
              <a:defRPr sz="1200" i="1">
                <a:solidFill>
                  <a:srgbClr val="94A3B8"/>
                </a:solidFill>
                <a:latin typeface="Segoe UI"/>
              </a:defRPr>
            </a:pPr>
            <a:r>
              <a:t>Men ijtimoiy tarmoqlardan bir nechta sabablar tufayli foydalanaman. Ular menga boshqa odamlar bilan muloqot qilish, foydali ma’lumot topish, yangi narsalarni o‘rganish va bo‘sh vaqtimda dam olishga yordam beradi.</a:t>
            </a:r>
          </a:p>
        </p:txBody>
      </p:sp>
      <p:sp>
        <p:nvSpPr>
          <p:cNvPr id="6" name="Rounded Rectangle 5"/>
          <p:cNvSpPr/>
          <p:nvPr/>
        </p:nvSpPr>
        <p:spPr>
          <a:xfrm>
            <a:off x="822960" y="3154680"/>
            <a:ext cx="2487168" cy="324612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38BDF8"/>
                </a:solidFill>
                <a:latin typeface="Segoe UI"/>
              </a:defRPr>
            </a:pPr>
            <a:r>
              <a:t>01</a:t>
            </a:r>
          </a:p>
          <a:p>
            <a:pPr>
              <a:spcAft>
                <a:spcPts val="200"/>
              </a:spcAft>
              <a:defRPr sz="1800" b="1">
                <a:solidFill>
                  <a:srgbClr val="FFFFFF"/>
                </a:solidFill>
                <a:latin typeface="Segoe UI"/>
              </a:defRPr>
            </a:pPr>
            <a:r>
              <a:t>Communication</a:t>
            </a:r>
          </a:p>
          <a:p>
            <a:pPr>
              <a:spcAft>
                <a:spcPts val="1400"/>
              </a:spcAft>
              <a:defRPr sz="1300" i="1">
                <a:solidFill>
                  <a:srgbClr val="38BDF8"/>
                </a:solidFill>
                <a:latin typeface="Segoe UI"/>
              </a:defRPr>
            </a:pPr>
            <a:r>
              <a:t>Muloqot</a:t>
            </a:r>
          </a:p>
          <a:p>
            <a:pPr>
              <a:spcAft>
                <a:spcPts val="600"/>
              </a:spcAft>
              <a:defRPr sz="1100">
                <a:solidFill>
                  <a:srgbClr val="E2E8F0"/>
                </a:solidFill>
                <a:latin typeface="Segoe UI"/>
              </a:defRPr>
            </a:pPr>
            <a:r>
              <a:t>Staying connected with friends, family, and classmates seamlessly.</a:t>
            </a:r>
          </a:p>
          <a:p>
            <a:pPr>
              <a:defRPr sz="1000" i="1">
                <a:solidFill>
                  <a:srgbClr val="94A3B8"/>
                </a:solidFill>
                <a:latin typeface="Segoe UI"/>
              </a:defRPr>
            </a:pPr>
            <a:r>
              <a:t>Do‘stlar, oila va kursdoshlar bilan oson va yaqin aloqada bo‘lish.</a:t>
            </a:r>
          </a:p>
        </p:txBody>
      </p:sp>
      <p:sp>
        <p:nvSpPr>
          <p:cNvPr id="7" name="Rounded Rectangle 6"/>
          <p:cNvSpPr/>
          <p:nvPr/>
        </p:nvSpPr>
        <p:spPr>
          <a:xfrm>
            <a:off x="3502152" y="3154680"/>
            <a:ext cx="2487168" cy="3246120"/>
          </a:xfrm>
          <a:prstGeom prst="roundRect">
            <a:avLst/>
          </a:prstGeom>
          <a:solidFill>
            <a:srgbClr val="111827"/>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22D3EE"/>
                </a:solidFill>
                <a:latin typeface="Segoe UI"/>
              </a:defRPr>
            </a:pPr>
            <a:r>
              <a:t>02</a:t>
            </a:r>
          </a:p>
          <a:p>
            <a:pPr>
              <a:spcAft>
                <a:spcPts val="200"/>
              </a:spcAft>
              <a:defRPr sz="1800" b="1">
                <a:solidFill>
                  <a:srgbClr val="FFFFFF"/>
                </a:solidFill>
                <a:latin typeface="Segoe UI"/>
              </a:defRPr>
            </a:pPr>
            <a:r>
              <a:t>Information</a:t>
            </a:r>
          </a:p>
          <a:p>
            <a:pPr>
              <a:spcAft>
                <a:spcPts val="1400"/>
              </a:spcAft>
              <a:defRPr sz="1300" i="1">
                <a:solidFill>
                  <a:srgbClr val="22D3EE"/>
                </a:solidFill>
                <a:latin typeface="Segoe UI"/>
              </a:defRPr>
            </a:pPr>
            <a:r>
              <a:t>Ma’lumot</a:t>
            </a:r>
          </a:p>
          <a:p>
            <a:pPr>
              <a:spcAft>
                <a:spcPts val="600"/>
              </a:spcAft>
              <a:defRPr sz="1100">
                <a:solidFill>
                  <a:srgbClr val="E2E8F0"/>
                </a:solidFill>
                <a:latin typeface="Segoe UI"/>
              </a:defRPr>
            </a:pPr>
            <a:r>
              <a:t>Discovering news, campus updates, and global affairs.</a:t>
            </a:r>
          </a:p>
          <a:p>
            <a:pPr>
              <a:defRPr sz="1000" i="1">
                <a:solidFill>
                  <a:srgbClr val="94A3B8"/>
                </a:solidFill>
                <a:latin typeface="Segoe UI"/>
              </a:defRPr>
            </a:pPr>
            <a:r>
              <a:t>Yangiliklar, universitet xabarlari va jahon voqealarini bilib borish.</a:t>
            </a:r>
          </a:p>
        </p:txBody>
      </p:sp>
      <p:sp>
        <p:nvSpPr>
          <p:cNvPr id="8" name="Rounded Rectangle 7"/>
          <p:cNvSpPr/>
          <p:nvPr/>
        </p:nvSpPr>
        <p:spPr>
          <a:xfrm>
            <a:off x="6181344" y="3154680"/>
            <a:ext cx="2487168" cy="324612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A855F7"/>
                </a:solidFill>
                <a:latin typeface="Segoe UI"/>
              </a:defRPr>
            </a:pPr>
            <a:r>
              <a:t>03</a:t>
            </a:r>
          </a:p>
          <a:p>
            <a:pPr>
              <a:spcAft>
                <a:spcPts val="200"/>
              </a:spcAft>
              <a:defRPr sz="1800" b="1">
                <a:solidFill>
                  <a:srgbClr val="FFFFFF"/>
                </a:solidFill>
                <a:latin typeface="Segoe UI"/>
              </a:defRPr>
            </a:pPr>
            <a:r>
              <a:t>Learning</a:t>
            </a:r>
          </a:p>
          <a:p>
            <a:pPr>
              <a:spcAft>
                <a:spcPts val="1400"/>
              </a:spcAft>
              <a:defRPr sz="1300" i="1">
                <a:solidFill>
                  <a:srgbClr val="A855F7"/>
                </a:solidFill>
                <a:latin typeface="Segoe UI"/>
              </a:defRPr>
            </a:pPr>
            <a:r>
              <a:t>O‘rganish</a:t>
            </a:r>
          </a:p>
          <a:p>
            <a:pPr>
              <a:spcAft>
                <a:spcPts val="600"/>
              </a:spcAft>
              <a:defRPr sz="1100">
                <a:solidFill>
                  <a:srgbClr val="E2E8F0"/>
                </a:solidFill>
                <a:latin typeface="Segoe UI"/>
              </a:defRPr>
            </a:pPr>
            <a:r>
              <a:t>Acquiring practical skills, foreign languages, and study advice.</a:t>
            </a:r>
          </a:p>
          <a:p>
            <a:pPr>
              <a:defRPr sz="1000" i="1">
                <a:solidFill>
                  <a:srgbClr val="94A3B8"/>
                </a:solidFill>
                <a:latin typeface="Segoe UI"/>
              </a:defRPr>
            </a:pPr>
            <a:r>
              <a:t>Amaliy ko‘nikmalar, chet tillari va o‘quv maslahatlarini o‘zlashtirish.</a:t>
            </a:r>
          </a:p>
        </p:txBody>
      </p:sp>
      <p:sp>
        <p:nvSpPr>
          <p:cNvPr id="9" name="Rounded Rectangle 8"/>
          <p:cNvSpPr/>
          <p:nvPr/>
        </p:nvSpPr>
        <p:spPr>
          <a:xfrm>
            <a:off x="8860536" y="3154680"/>
            <a:ext cx="2487168" cy="3246120"/>
          </a:xfrm>
          <a:prstGeom prst="roundRect">
            <a:avLst/>
          </a:prstGeom>
          <a:solidFill>
            <a:srgbClr val="111827"/>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34D399"/>
                </a:solidFill>
                <a:latin typeface="Segoe UI"/>
              </a:defRPr>
            </a:pPr>
            <a:r>
              <a:t>04</a:t>
            </a:r>
          </a:p>
          <a:p>
            <a:pPr>
              <a:spcAft>
                <a:spcPts val="200"/>
              </a:spcAft>
              <a:defRPr sz="1800" b="1">
                <a:solidFill>
                  <a:srgbClr val="FFFFFF"/>
                </a:solidFill>
                <a:latin typeface="Segoe UI"/>
              </a:defRPr>
            </a:pPr>
            <a:r>
              <a:t>Entertainment</a:t>
            </a:r>
          </a:p>
          <a:p>
            <a:pPr>
              <a:spcAft>
                <a:spcPts val="1400"/>
              </a:spcAft>
              <a:defRPr sz="1300" i="1">
                <a:solidFill>
                  <a:srgbClr val="34D399"/>
                </a:solidFill>
                <a:latin typeface="Segoe UI"/>
              </a:defRPr>
            </a:pPr>
            <a:r>
              <a:t>Ko‘ngilochar</a:t>
            </a:r>
          </a:p>
          <a:p>
            <a:pPr>
              <a:spcAft>
                <a:spcPts val="600"/>
              </a:spcAft>
              <a:defRPr sz="1100">
                <a:solidFill>
                  <a:srgbClr val="E2E8F0"/>
                </a:solidFill>
                <a:latin typeface="Segoe UI"/>
              </a:defRPr>
            </a:pPr>
            <a:r>
              <a:t>Listening to favorite music, watching videos, and resting peacefully.</a:t>
            </a:r>
          </a:p>
          <a:p>
            <a:pPr>
              <a:defRPr sz="1000" i="1">
                <a:solidFill>
                  <a:srgbClr val="94A3B8"/>
                </a:solidFill>
                <a:latin typeface="Segoe UI"/>
              </a:defRPr>
            </a:pPr>
            <a:r>
              <a:t>Sevimli musiqa tinglash, videolar ko‘rish va maroqli dam olish.</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E1A"/>
        </a:solidFill>
        <a:effectLst/>
      </p:bgPr>
    </p:bg>
    <p:spTree>
      <p:nvGrpSpPr>
        <p:cNvPr id="1" name=""/>
        <p:cNvGrpSpPr/>
        <p:nvPr/>
      </p:nvGrpSpPr>
      <p:grpSpPr/>
      <p:sp>
        <p:nvSpPr>
          <p:cNvPr id="2" name="TextBox 1"/>
          <p:cNvSpPr txBox="1"/>
          <p:nvPr/>
        </p:nvSpPr>
        <p:spPr>
          <a:xfrm>
            <a:off x="822960" y="384048"/>
            <a:ext cx="7315200" cy="274320"/>
          </a:xfrm>
          <a:prstGeom prst="rect">
            <a:avLst/>
          </a:prstGeom>
          <a:noFill/>
        </p:spPr>
        <p:txBody>
          <a:bodyPr wrap="square" lIns="0" tIns="0" rIns="0" bIns="0">
            <a:spAutoFit/>
          </a:bodyPr>
          <a:lstStyle/>
          <a:p>
            <a:pPr>
              <a:defRPr sz="1000" b="1">
                <a:solidFill>
                  <a:srgbClr val="38BDF8"/>
                </a:solidFill>
                <a:latin typeface="Segoe UI"/>
              </a:defRPr>
            </a:pPr>
            <a:r>
              <a:t>UNIVERSITY PRESENTATION (EN / UZ) • SLIDE 05 OF 09</a:t>
            </a:r>
          </a:p>
        </p:txBody>
      </p:sp>
      <p:sp>
        <p:nvSpPr>
          <p:cNvPr id="3" name="TextBox 2"/>
          <p:cNvSpPr txBox="1"/>
          <p:nvPr/>
        </p:nvSpPr>
        <p:spPr>
          <a:xfrm>
            <a:off x="822960" y="658368"/>
            <a:ext cx="10545775" cy="804672"/>
          </a:xfrm>
          <a:prstGeom prst="rect">
            <a:avLst/>
          </a:prstGeom>
          <a:noFill/>
        </p:spPr>
        <p:txBody>
          <a:bodyPr wrap="square" lIns="0" tIns="0" rIns="0" bIns="0">
            <a:spAutoFit/>
          </a:bodyPr>
          <a:lstStyle/>
          <a:p>
            <a:pPr>
              <a:spcAft>
                <a:spcPts val="200"/>
              </a:spcAft>
              <a:defRPr sz="2400" b="1">
                <a:solidFill>
                  <a:srgbClr val="FFFFFF"/>
                </a:solidFill>
                <a:latin typeface="Segoe UI"/>
              </a:defRPr>
            </a:pPr>
            <a:r>
              <a:t>Communication with People</a:t>
            </a:r>
          </a:p>
          <a:p>
            <a:pPr>
              <a:defRPr sz="1400" i="1">
                <a:solidFill>
                  <a:srgbClr val="22D3EE"/>
                </a:solidFill>
                <a:latin typeface="Segoe UI"/>
              </a:defRPr>
            </a:pPr>
            <a:r>
              <a:t>Odamlar bilan muloqot</a:t>
            </a:r>
          </a:p>
        </p:txBody>
      </p:sp>
      <p:sp>
        <p:nvSpPr>
          <p:cNvPr id="4" name="Rectangle 3"/>
          <p:cNvSpPr/>
          <p:nvPr/>
        </p:nvSpPr>
        <p:spPr>
          <a:xfrm>
            <a:off x="822960" y="1536192"/>
            <a:ext cx="10545775" cy="13716"/>
          </a:xfrm>
          <a:prstGeom prst="rect">
            <a:avLst/>
          </a:prstGeom>
          <a:solidFill>
            <a:srgbClr val="1E2941"/>
          </a:solidFill>
          <a:ln>
            <a:solidFill>
              <a:srgbClr val="1E2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645920"/>
            <a:ext cx="4846320" cy="484632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137160"/>
          <a:lstStyle/>
          <a:p>
            <a:pPr algn="ctr">
              <a:spcAft>
                <a:spcPts val="800"/>
              </a:spcAft>
              <a:defRPr sz="950" b="1">
                <a:solidFill>
                  <a:srgbClr val="38BDF8"/>
                </a:solidFill>
                <a:latin typeface="Segoe UI"/>
              </a:defRPr>
            </a:pPr>
            <a:r>
              <a:t>CORE STORY • SPEED &amp; ACCESSIBILITY</a:t>
            </a:r>
          </a:p>
          <a:p>
            <a:pPr>
              <a:spcAft>
                <a:spcPts val="500"/>
              </a:spcAft>
              <a:defRPr sz="1500" b="1">
                <a:solidFill>
                  <a:srgbClr val="FFFFFF"/>
                </a:solidFill>
                <a:latin typeface="Segoe UI"/>
              </a:defRPr>
            </a:pPr>
            <a:r>
              <a:t>Social networks make communication faster and easier. I can send messages, share photos and talk to friends and family even when they are far away.</a:t>
            </a:r>
          </a:p>
          <a:p>
            <a:pPr>
              <a:spcAft>
                <a:spcPts val="1400"/>
              </a:spcAft>
              <a:defRPr sz="1100" i="1">
                <a:solidFill>
                  <a:srgbClr val="94A3B8"/>
                </a:solidFill>
                <a:latin typeface="Segoe UI"/>
              </a:defRPr>
            </a:pPr>
            <a:r>
              <a:t>Ijtimoiy tarmoqlar muloqotni tezroq va osonroq qiladi. Men do‘stlarim va oilam uzoqda bo‘lsa ham, xabar yuborishim, fotosurat ulashishim va ular bilan suhbatlashishim mumkin.</a:t>
            </a:r>
          </a:p>
          <a:p>
            <a:pPr>
              <a:spcAft>
                <a:spcPts val="100"/>
              </a:spcAft>
              <a:defRPr sz="1200" b="1">
                <a:solidFill>
                  <a:srgbClr val="FFFFFF"/>
                </a:solidFill>
                <a:latin typeface="Segoe UI"/>
              </a:defRPr>
            </a:pPr>
            <a:r>
              <a:t>✔  Instant Connection Across Borders</a:t>
            </a:r>
          </a:p>
          <a:p>
            <a:pPr>
              <a:spcAft>
                <a:spcPts val="500"/>
              </a:spcAft>
              <a:defRPr sz="1000" i="1">
                <a:solidFill>
                  <a:srgbClr val="94A3B8"/>
                </a:solidFill>
                <a:latin typeface="Segoe UI"/>
              </a:defRPr>
            </a:pPr>
            <a:r>
              <a:t>     Chegarasiz tezkor aloqa</a:t>
            </a:r>
          </a:p>
          <a:p>
            <a:pPr>
              <a:spcAft>
                <a:spcPts val="100"/>
              </a:spcAft>
              <a:defRPr sz="1200" b="1">
                <a:solidFill>
                  <a:srgbClr val="FFFFFF"/>
                </a:solidFill>
                <a:latin typeface="Segoe UI"/>
              </a:defRPr>
            </a:pPr>
            <a:r>
              <a:t>✔  Sharing Daily Moments &amp; Photos</a:t>
            </a:r>
          </a:p>
          <a:p>
            <a:pPr>
              <a:spcAft>
                <a:spcPts val="500"/>
              </a:spcAft>
              <a:defRPr sz="1000" i="1">
                <a:solidFill>
                  <a:srgbClr val="94A3B8"/>
                </a:solidFill>
                <a:latin typeface="Segoe UI"/>
              </a:defRPr>
            </a:pPr>
            <a:r>
              <a:t>     Kundalik muhim lahzalarni ulashish</a:t>
            </a:r>
          </a:p>
          <a:p>
            <a:pPr>
              <a:spcAft>
                <a:spcPts val="100"/>
              </a:spcAft>
              <a:defRPr sz="1200" b="1">
                <a:solidFill>
                  <a:srgbClr val="FFFFFF"/>
                </a:solidFill>
                <a:latin typeface="Segoe UI"/>
              </a:defRPr>
            </a:pPr>
            <a:r>
              <a:t>✔  Face-to-Face Video Conversations</a:t>
            </a:r>
          </a:p>
          <a:p>
            <a:pPr>
              <a:spcAft>
                <a:spcPts val="500"/>
              </a:spcAft>
              <a:defRPr sz="1000" i="1">
                <a:solidFill>
                  <a:srgbClr val="94A3B8"/>
                </a:solidFill>
                <a:latin typeface="Segoe UI"/>
              </a:defRPr>
            </a:pPr>
            <a:r>
              <a:t>     Yuzma-yuz bevosita video muloqot</a:t>
            </a:r>
          </a:p>
        </p:txBody>
      </p:sp>
      <p:pic>
        <p:nvPicPr>
          <p:cNvPr id="6" name="Picture 5" descr="chat_visual.png"/>
          <p:cNvPicPr>
            <a:picLocks noChangeAspect="1"/>
          </p:cNvPicPr>
          <p:nvPr/>
        </p:nvPicPr>
        <p:blipFill>
          <a:blip r:embed="rId2"/>
          <a:stretch>
            <a:fillRect/>
          </a:stretch>
        </p:blipFill>
        <p:spPr>
          <a:xfrm>
            <a:off x="5943600" y="1645920"/>
            <a:ext cx="5394960" cy="4046220"/>
          </a:xfrm>
          <a:prstGeom prst="rect">
            <a:avLst/>
          </a:prstGeom>
        </p:spPr>
      </p:pic>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E1A"/>
        </a:solidFill>
        <a:effectLst/>
      </p:bgPr>
    </p:bg>
    <p:spTree>
      <p:nvGrpSpPr>
        <p:cNvPr id="1" name=""/>
        <p:cNvGrpSpPr/>
        <p:nvPr/>
      </p:nvGrpSpPr>
      <p:grpSpPr/>
      <p:sp>
        <p:nvSpPr>
          <p:cNvPr id="2" name="TextBox 1"/>
          <p:cNvSpPr txBox="1"/>
          <p:nvPr/>
        </p:nvSpPr>
        <p:spPr>
          <a:xfrm>
            <a:off x="822960" y="384048"/>
            <a:ext cx="7315200" cy="274320"/>
          </a:xfrm>
          <a:prstGeom prst="rect">
            <a:avLst/>
          </a:prstGeom>
          <a:noFill/>
        </p:spPr>
        <p:txBody>
          <a:bodyPr wrap="square" lIns="0" tIns="0" rIns="0" bIns="0">
            <a:spAutoFit/>
          </a:bodyPr>
          <a:lstStyle/>
          <a:p>
            <a:pPr>
              <a:defRPr sz="1000" b="1">
                <a:solidFill>
                  <a:srgbClr val="38BDF8"/>
                </a:solidFill>
                <a:latin typeface="Segoe UI"/>
              </a:defRPr>
            </a:pPr>
            <a:r>
              <a:t>UNIVERSITY PRESENTATION (EN / UZ) • SLIDE 06 OF 09</a:t>
            </a:r>
          </a:p>
        </p:txBody>
      </p:sp>
      <p:sp>
        <p:nvSpPr>
          <p:cNvPr id="3" name="TextBox 2"/>
          <p:cNvSpPr txBox="1"/>
          <p:nvPr/>
        </p:nvSpPr>
        <p:spPr>
          <a:xfrm>
            <a:off x="822960" y="658368"/>
            <a:ext cx="10545775" cy="804672"/>
          </a:xfrm>
          <a:prstGeom prst="rect">
            <a:avLst/>
          </a:prstGeom>
          <a:noFill/>
        </p:spPr>
        <p:txBody>
          <a:bodyPr wrap="square" lIns="0" tIns="0" rIns="0" bIns="0">
            <a:spAutoFit/>
          </a:bodyPr>
          <a:lstStyle/>
          <a:p>
            <a:pPr>
              <a:spcAft>
                <a:spcPts val="200"/>
              </a:spcAft>
              <a:defRPr sz="2400" b="1">
                <a:solidFill>
                  <a:srgbClr val="FFFFFF"/>
                </a:solidFill>
                <a:latin typeface="Segoe UI"/>
              </a:defRPr>
            </a:pPr>
            <a:r>
              <a:t>Learning and Education</a:t>
            </a:r>
          </a:p>
          <a:p>
            <a:pPr>
              <a:defRPr sz="1400" i="1">
                <a:solidFill>
                  <a:srgbClr val="22D3EE"/>
                </a:solidFill>
                <a:latin typeface="Segoe UI"/>
              </a:defRPr>
            </a:pPr>
            <a:r>
              <a:t>O‘rganish va ta’lim</a:t>
            </a:r>
          </a:p>
        </p:txBody>
      </p:sp>
      <p:sp>
        <p:nvSpPr>
          <p:cNvPr id="4" name="Rectangle 3"/>
          <p:cNvSpPr/>
          <p:nvPr/>
        </p:nvSpPr>
        <p:spPr>
          <a:xfrm>
            <a:off x="822960" y="1536192"/>
            <a:ext cx="10545775" cy="13716"/>
          </a:xfrm>
          <a:prstGeom prst="rect">
            <a:avLst/>
          </a:prstGeom>
          <a:solidFill>
            <a:srgbClr val="1E2941"/>
          </a:solidFill>
          <a:ln>
            <a:solidFill>
              <a:srgbClr val="1E2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645920"/>
            <a:ext cx="4846320" cy="484632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137160"/>
          <a:lstStyle/>
          <a:p>
            <a:pPr algn="ctr">
              <a:spcAft>
                <a:spcPts val="800"/>
              </a:spcAft>
              <a:defRPr sz="950" b="1">
                <a:solidFill>
                  <a:srgbClr val="38BDF8"/>
                </a:solidFill>
                <a:latin typeface="Segoe UI"/>
              </a:defRPr>
            </a:pPr>
            <a:r>
              <a:t>ACADEMIC &amp; DIGITAL LEARNING</a:t>
            </a:r>
          </a:p>
          <a:p>
            <a:pPr>
              <a:spcAft>
                <a:spcPts val="500"/>
              </a:spcAft>
              <a:defRPr sz="1450" b="1">
                <a:solidFill>
                  <a:srgbClr val="FFFFFF"/>
                </a:solidFill>
                <a:latin typeface="Segoe UI"/>
              </a:defRPr>
            </a:pPr>
            <a:r>
              <a:t>Social networks can also be useful for education. I can watch educational videos, follow useful channels and find new information about different topics.</a:t>
            </a:r>
          </a:p>
          <a:p>
            <a:pPr>
              <a:spcAft>
                <a:spcPts val="1200"/>
              </a:spcAft>
              <a:defRPr sz="1100" i="1">
                <a:solidFill>
                  <a:srgbClr val="94A3B8"/>
                </a:solidFill>
                <a:latin typeface="Segoe UI"/>
              </a:defRPr>
            </a:pPr>
            <a:r>
              <a:t>Ijtimoiy tarmoqlar ta’lim uchun ham foydali bo‘lishi mumkin. Men ta’limiy videolar ko‘rishim, foydali kanallarni kuzatishim va turli mavzular haqida yangi ma’lumot topishim mumkin.</a:t>
            </a:r>
          </a:p>
          <a:p>
            <a:pPr>
              <a:spcAft>
                <a:spcPts val="100"/>
              </a:spcAft>
              <a:defRPr sz="1150" b="1">
                <a:solidFill>
                  <a:srgbClr val="FFFFFF"/>
                </a:solidFill>
                <a:latin typeface="Segoe UI"/>
              </a:defRPr>
            </a:pPr>
            <a:r>
              <a:t>•  Video lessons</a:t>
            </a:r>
          </a:p>
          <a:p>
            <a:pPr>
              <a:spcAft>
                <a:spcPts val="300"/>
              </a:spcAft>
              <a:defRPr sz="950" i="1">
                <a:solidFill>
                  <a:srgbClr val="94A3B8"/>
                </a:solidFill>
                <a:latin typeface="Segoe UI"/>
              </a:defRPr>
            </a:pPr>
            <a:r>
              <a:t>    video darslar</a:t>
            </a:r>
          </a:p>
          <a:p>
            <a:pPr>
              <a:spcAft>
                <a:spcPts val="100"/>
              </a:spcAft>
              <a:defRPr sz="1150" b="1">
                <a:solidFill>
                  <a:srgbClr val="FFFFFF"/>
                </a:solidFill>
                <a:latin typeface="Segoe UI"/>
              </a:defRPr>
            </a:pPr>
            <a:r>
              <a:t>•  Online courses</a:t>
            </a:r>
          </a:p>
          <a:p>
            <a:pPr>
              <a:spcAft>
                <a:spcPts val="300"/>
              </a:spcAft>
              <a:defRPr sz="950" i="1">
                <a:solidFill>
                  <a:srgbClr val="94A3B8"/>
                </a:solidFill>
                <a:latin typeface="Segoe UI"/>
              </a:defRPr>
            </a:pPr>
            <a:r>
              <a:t>    onlayn kurslar</a:t>
            </a:r>
          </a:p>
          <a:p>
            <a:pPr>
              <a:spcAft>
                <a:spcPts val="100"/>
              </a:spcAft>
              <a:defRPr sz="1150" b="1">
                <a:solidFill>
                  <a:srgbClr val="FFFFFF"/>
                </a:solidFill>
                <a:latin typeface="Segoe UI"/>
              </a:defRPr>
            </a:pPr>
            <a:r>
              <a:t>•  Educational channels</a:t>
            </a:r>
          </a:p>
          <a:p>
            <a:pPr>
              <a:spcAft>
                <a:spcPts val="300"/>
              </a:spcAft>
              <a:defRPr sz="950" i="1">
                <a:solidFill>
                  <a:srgbClr val="94A3B8"/>
                </a:solidFill>
                <a:latin typeface="Segoe UI"/>
              </a:defRPr>
            </a:pPr>
            <a:r>
              <a:t>    ta’limiy kanallar</a:t>
            </a:r>
          </a:p>
          <a:p>
            <a:pPr>
              <a:spcAft>
                <a:spcPts val="100"/>
              </a:spcAft>
              <a:defRPr sz="1150" b="1">
                <a:solidFill>
                  <a:srgbClr val="FFFFFF"/>
                </a:solidFill>
                <a:latin typeface="Segoe UI"/>
              </a:defRPr>
            </a:pPr>
            <a:r>
              <a:t>•  Useful information</a:t>
            </a:r>
          </a:p>
          <a:p>
            <a:pPr>
              <a:spcAft>
                <a:spcPts val="300"/>
              </a:spcAft>
              <a:defRPr sz="950" i="1">
                <a:solidFill>
                  <a:srgbClr val="94A3B8"/>
                </a:solidFill>
                <a:latin typeface="Segoe UI"/>
              </a:defRPr>
            </a:pPr>
            <a:r>
              <a:t>    foydali ma’lumotlar</a:t>
            </a:r>
          </a:p>
        </p:txBody>
      </p:sp>
      <p:pic>
        <p:nvPicPr>
          <p:cNvPr id="6" name="Picture 5" descr="education_player.png"/>
          <p:cNvPicPr>
            <a:picLocks noChangeAspect="1"/>
          </p:cNvPicPr>
          <p:nvPr/>
        </p:nvPicPr>
        <p:blipFill>
          <a:blip r:embed="rId2"/>
          <a:stretch>
            <a:fillRect/>
          </a:stretch>
        </p:blipFill>
        <p:spPr>
          <a:xfrm>
            <a:off x="5943600" y="1645920"/>
            <a:ext cx="5394960" cy="4046220"/>
          </a:xfrm>
          <a:prstGeom prst="rect">
            <a:avLst/>
          </a:prstGeom>
        </p:spPr>
      </p:pic>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E1A"/>
        </a:solidFill>
        <a:effectLst/>
      </p:bgPr>
    </p:bg>
    <p:spTree>
      <p:nvGrpSpPr>
        <p:cNvPr id="1" name=""/>
        <p:cNvGrpSpPr/>
        <p:nvPr/>
      </p:nvGrpSpPr>
      <p:grpSpPr/>
      <p:sp>
        <p:nvSpPr>
          <p:cNvPr id="2" name="TextBox 1"/>
          <p:cNvSpPr txBox="1"/>
          <p:nvPr/>
        </p:nvSpPr>
        <p:spPr>
          <a:xfrm>
            <a:off x="822960" y="384048"/>
            <a:ext cx="7315200" cy="274320"/>
          </a:xfrm>
          <a:prstGeom prst="rect">
            <a:avLst/>
          </a:prstGeom>
          <a:noFill/>
        </p:spPr>
        <p:txBody>
          <a:bodyPr wrap="square" lIns="0" tIns="0" rIns="0" bIns="0">
            <a:spAutoFit/>
          </a:bodyPr>
          <a:lstStyle/>
          <a:p>
            <a:pPr>
              <a:defRPr sz="1000" b="1">
                <a:solidFill>
                  <a:srgbClr val="38BDF8"/>
                </a:solidFill>
                <a:latin typeface="Segoe UI"/>
              </a:defRPr>
            </a:pPr>
            <a:r>
              <a:t>UNIVERSITY PRESENTATION (EN / UZ) • SLIDE 07 OF 09</a:t>
            </a:r>
          </a:p>
        </p:txBody>
      </p:sp>
      <p:sp>
        <p:nvSpPr>
          <p:cNvPr id="3" name="TextBox 2"/>
          <p:cNvSpPr txBox="1"/>
          <p:nvPr/>
        </p:nvSpPr>
        <p:spPr>
          <a:xfrm>
            <a:off x="822960" y="658368"/>
            <a:ext cx="10545775" cy="804672"/>
          </a:xfrm>
          <a:prstGeom prst="rect">
            <a:avLst/>
          </a:prstGeom>
          <a:noFill/>
        </p:spPr>
        <p:txBody>
          <a:bodyPr wrap="square" lIns="0" tIns="0" rIns="0" bIns="0">
            <a:spAutoFit/>
          </a:bodyPr>
          <a:lstStyle/>
          <a:p>
            <a:pPr>
              <a:spcAft>
                <a:spcPts val="200"/>
              </a:spcAft>
              <a:defRPr sz="2400" b="1">
                <a:solidFill>
                  <a:srgbClr val="FFFFFF"/>
                </a:solidFill>
                <a:latin typeface="Segoe UI"/>
              </a:defRPr>
            </a:pPr>
            <a:r>
              <a:t>Entertainment and Free Time</a:t>
            </a:r>
          </a:p>
          <a:p>
            <a:pPr>
              <a:defRPr sz="1400" i="1">
                <a:solidFill>
                  <a:srgbClr val="22D3EE"/>
                </a:solidFill>
                <a:latin typeface="Segoe UI"/>
              </a:defRPr>
            </a:pPr>
            <a:r>
              <a:t>Ko‘ngilochar va bo‘sh vaqt</a:t>
            </a:r>
          </a:p>
        </p:txBody>
      </p:sp>
      <p:sp>
        <p:nvSpPr>
          <p:cNvPr id="4" name="Rectangle 3"/>
          <p:cNvSpPr/>
          <p:nvPr/>
        </p:nvSpPr>
        <p:spPr>
          <a:xfrm>
            <a:off x="822960" y="1536192"/>
            <a:ext cx="10545775" cy="13716"/>
          </a:xfrm>
          <a:prstGeom prst="rect">
            <a:avLst/>
          </a:prstGeom>
          <a:solidFill>
            <a:srgbClr val="1E2941"/>
          </a:solidFill>
          <a:ln>
            <a:solidFill>
              <a:srgbClr val="1E2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645920"/>
            <a:ext cx="4846320" cy="484632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137160"/>
          <a:lstStyle/>
          <a:p>
            <a:pPr algn="ctr">
              <a:spcAft>
                <a:spcPts val="800"/>
              </a:spcAft>
              <a:defRPr sz="950" b="1">
                <a:solidFill>
                  <a:srgbClr val="38BDF8"/>
                </a:solidFill>
                <a:latin typeface="Segoe UI"/>
              </a:defRPr>
            </a:pPr>
            <a:r>
              <a:t>RECREATION &amp; DIGITAL WELLBEING</a:t>
            </a:r>
          </a:p>
          <a:p>
            <a:pPr>
              <a:spcAft>
                <a:spcPts val="500"/>
              </a:spcAft>
              <a:defRPr sz="1450" b="1">
                <a:solidFill>
                  <a:srgbClr val="FFFFFF"/>
                </a:solidFill>
                <a:latin typeface="Segoe UI"/>
              </a:defRPr>
            </a:pPr>
            <a:r>
              <a:t>Social networks are also a way to relax. I can watch videos, listen to music, see interesting content and discover new ideas. However, I try not to spend too much time online.</a:t>
            </a:r>
          </a:p>
          <a:p>
            <a:pPr>
              <a:spcAft>
                <a:spcPts val="1400"/>
              </a:spcAft>
              <a:defRPr sz="1100" i="1">
                <a:solidFill>
                  <a:srgbClr val="94A3B8"/>
                </a:solidFill>
                <a:latin typeface="Segoe UI"/>
              </a:defRPr>
            </a:pPr>
            <a:r>
              <a:t>Ijtimoiy tarmoqlar dam olish usuli hamdir. Men videolar ko‘rishim, musiqa tinglashim, qiziqarli kontent tomosha qilishim va yangi g‘oyalarni kashf qilishim mumkin. Biroq internetda juda ko‘p vaqt sarflamaslikka harakat qilaman.</a:t>
            </a:r>
          </a:p>
          <a:p>
            <a:pPr>
              <a:spcAft>
                <a:spcPts val="100"/>
              </a:spcAft>
              <a:defRPr sz="1200" b="1">
                <a:solidFill>
                  <a:srgbClr val="FFFFFF"/>
                </a:solidFill>
                <a:latin typeface="Segoe UI"/>
              </a:defRPr>
            </a:pPr>
            <a:r>
              <a:t>✔  Relaxation &amp; Music</a:t>
            </a:r>
          </a:p>
          <a:p>
            <a:pPr>
              <a:spcAft>
                <a:spcPts val="500"/>
              </a:spcAft>
              <a:defRPr sz="1000" i="1">
                <a:solidFill>
                  <a:srgbClr val="94A3B8"/>
                </a:solidFill>
                <a:latin typeface="Segoe UI"/>
              </a:defRPr>
            </a:pPr>
            <a:r>
              <a:t>     Dam olish va musiqa</a:t>
            </a:r>
          </a:p>
          <a:p>
            <a:pPr>
              <a:spcAft>
                <a:spcPts val="100"/>
              </a:spcAft>
              <a:defRPr sz="1200" b="1">
                <a:solidFill>
                  <a:srgbClr val="FFFFFF"/>
                </a:solidFill>
                <a:latin typeface="Segoe UI"/>
              </a:defRPr>
            </a:pPr>
            <a:r>
              <a:t>✔  Inspiration &amp; Ideas</a:t>
            </a:r>
          </a:p>
          <a:p>
            <a:pPr>
              <a:spcAft>
                <a:spcPts val="500"/>
              </a:spcAft>
              <a:defRPr sz="1000" i="1">
                <a:solidFill>
                  <a:srgbClr val="94A3B8"/>
                </a:solidFill>
                <a:latin typeface="Segoe UI"/>
              </a:defRPr>
            </a:pPr>
            <a:r>
              <a:t>     Ilhom va yangi g‘oyalar</a:t>
            </a:r>
          </a:p>
          <a:p>
            <a:pPr>
              <a:spcAft>
                <a:spcPts val="100"/>
              </a:spcAft>
              <a:defRPr sz="1200" b="1">
                <a:solidFill>
                  <a:srgbClr val="FFFFFF"/>
                </a:solidFill>
                <a:latin typeface="Segoe UI"/>
              </a:defRPr>
            </a:pPr>
            <a:r>
              <a:t>✔  Healthy Screen Limits</a:t>
            </a:r>
          </a:p>
          <a:p>
            <a:pPr>
              <a:spcAft>
                <a:spcPts val="500"/>
              </a:spcAft>
              <a:defRPr sz="1000" i="1">
                <a:solidFill>
                  <a:srgbClr val="94A3B8"/>
                </a:solidFill>
                <a:latin typeface="Segoe UI"/>
              </a:defRPr>
            </a:pPr>
            <a:r>
              <a:t>     Sog‘lom ekran vaqti me’yori</a:t>
            </a:r>
          </a:p>
        </p:txBody>
      </p:sp>
      <p:pic>
        <p:nvPicPr>
          <p:cNvPr id="6" name="Picture 5" descr="balance_wellbeing.png"/>
          <p:cNvPicPr>
            <a:picLocks noChangeAspect="1"/>
          </p:cNvPicPr>
          <p:nvPr/>
        </p:nvPicPr>
        <p:blipFill>
          <a:blip r:embed="rId2"/>
          <a:stretch>
            <a:fillRect/>
          </a:stretch>
        </p:blipFill>
        <p:spPr>
          <a:xfrm>
            <a:off x="5943600" y="1645920"/>
            <a:ext cx="5394960" cy="4046220"/>
          </a:xfrm>
          <a:prstGeom prst="rect">
            <a:avLst/>
          </a:prstGeom>
        </p:spPr>
      </p:pic>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E1A"/>
        </a:solidFill>
        <a:effectLst/>
      </p:bgPr>
    </p:bg>
    <p:spTree>
      <p:nvGrpSpPr>
        <p:cNvPr id="1" name=""/>
        <p:cNvGrpSpPr/>
        <p:nvPr/>
      </p:nvGrpSpPr>
      <p:grpSpPr/>
      <p:sp>
        <p:nvSpPr>
          <p:cNvPr id="2" name="TextBox 1"/>
          <p:cNvSpPr txBox="1"/>
          <p:nvPr/>
        </p:nvSpPr>
        <p:spPr>
          <a:xfrm>
            <a:off x="822960" y="384048"/>
            <a:ext cx="7315200" cy="274320"/>
          </a:xfrm>
          <a:prstGeom prst="rect">
            <a:avLst/>
          </a:prstGeom>
          <a:noFill/>
        </p:spPr>
        <p:txBody>
          <a:bodyPr wrap="square" lIns="0" tIns="0" rIns="0" bIns="0">
            <a:spAutoFit/>
          </a:bodyPr>
          <a:lstStyle/>
          <a:p>
            <a:pPr>
              <a:defRPr sz="1000" b="1">
                <a:solidFill>
                  <a:srgbClr val="38BDF8"/>
                </a:solidFill>
                <a:latin typeface="Segoe UI"/>
              </a:defRPr>
            </a:pPr>
            <a:r>
              <a:t>UNIVERSITY PRESENTATION (EN / UZ) • SLIDE 08 OF 09</a:t>
            </a:r>
          </a:p>
        </p:txBody>
      </p:sp>
      <p:sp>
        <p:nvSpPr>
          <p:cNvPr id="3" name="TextBox 2"/>
          <p:cNvSpPr txBox="1"/>
          <p:nvPr/>
        </p:nvSpPr>
        <p:spPr>
          <a:xfrm>
            <a:off x="822960" y="658368"/>
            <a:ext cx="10545775" cy="804672"/>
          </a:xfrm>
          <a:prstGeom prst="rect">
            <a:avLst/>
          </a:prstGeom>
          <a:noFill/>
        </p:spPr>
        <p:txBody>
          <a:bodyPr wrap="square" lIns="0" tIns="0" rIns="0" bIns="0">
            <a:spAutoFit/>
          </a:bodyPr>
          <a:lstStyle/>
          <a:p>
            <a:pPr>
              <a:spcAft>
                <a:spcPts val="200"/>
              </a:spcAft>
              <a:defRPr sz="2400" b="1">
                <a:solidFill>
                  <a:srgbClr val="FFFFFF"/>
                </a:solidFill>
                <a:latin typeface="Segoe UI"/>
              </a:defRPr>
            </a:pPr>
            <a:r>
              <a:t>Advantages and Disadvantages</a:t>
            </a:r>
          </a:p>
          <a:p>
            <a:pPr>
              <a:defRPr sz="1400" i="1">
                <a:solidFill>
                  <a:srgbClr val="22D3EE"/>
                </a:solidFill>
                <a:latin typeface="Segoe UI"/>
              </a:defRPr>
            </a:pPr>
            <a:r>
              <a:t>Afzalliklari va kamchiliklari</a:t>
            </a:r>
          </a:p>
        </p:txBody>
      </p:sp>
      <p:sp>
        <p:nvSpPr>
          <p:cNvPr id="4" name="Rectangle 3"/>
          <p:cNvSpPr/>
          <p:nvPr/>
        </p:nvSpPr>
        <p:spPr>
          <a:xfrm>
            <a:off x="822960" y="1536192"/>
            <a:ext cx="10545775" cy="13716"/>
          </a:xfrm>
          <a:prstGeom prst="rect">
            <a:avLst/>
          </a:prstGeom>
          <a:solidFill>
            <a:srgbClr val="1E2941"/>
          </a:solidFill>
          <a:ln>
            <a:solidFill>
              <a:srgbClr val="1E29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645920"/>
            <a:ext cx="5120640" cy="4846320"/>
          </a:xfrm>
          <a:prstGeom prst="roundRect">
            <a:avLst/>
          </a:prstGeom>
          <a:solidFill>
            <a:srgbClr val="111827"/>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137160"/>
          <a:lstStyle/>
          <a:p>
            <a:pPr algn="ctr">
              <a:spcAft>
                <a:spcPts val="100"/>
              </a:spcAft>
              <a:defRPr sz="1800" b="1">
                <a:solidFill>
                  <a:srgbClr val="34D399"/>
                </a:solidFill>
                <a:latin typeface="Segoe UI"/>
              </a:defRPr>
            </a:pPr>
            <a:r>
              <a:t>ADVANTAGES</a:t>
            </a:r>
          </a:p>
          <a:p>
            <a:pPr>
              <a:spcAft>
                <a:spcPts val="1400"/>
              </a:spcAft>
              <a:defRPr sz="1200" i="1">
                <a:solidFill>
                  <a:srgbClr val="A7F3D0"/>
                </a:solidFill>
                <a:latin typeface="Segoe UI"/>
              </a:defRPr>
            </a:pPr>
            <a:r>
              <a:t>AFZALLIKLARI</a:t>
            </a:r>
          </a:p>
          <a:p>
            <a:pPr>
              <a:spcAft>
                <a:spcPts val="100"/>
              </a:spcAft>
              <a:defRPr sz="1300" b="1">
                <a:solidFill>
                  <a:srgbClr val="FFFFFF"/>
                </a:solidFill>
                <a:latin typeface="Segoe UI"/>
              </a:defRPr>
            </a:pPr>
            <a:r>
              <a:t>✔  Easy communication</a:t>
            </a:r>
          </a:p>
          <a:p>
            <a:pPr>
              <a:spcAft>
                <a:spcPts val="800"/>
              </a:spcAft>
              <a:defRPr sz="1050" i="1">
                <a:solidFill>
                  <a:srgbClr val="94A3B8"/>
                </a:solidFill>
                <a:latin typeface="Segoe UI"/>
              </a:defRPr>
            </a:pPr>
            <a:r>
              <a:t>     Oson muloqot</a:t>
            </a:r>
          </a:p>
          <a:p>
            <a:pPr>
              <a:spcAft>
                <a:spcPts val="100"/>
              </a:spcAft>
              <a:defRPr sz="1300" b="1">
                <a:solidFill>
                  <a:srgbClr val="FFFFFF"/>
                </a:solidFill>
                <a:latin typeface="Segoe UI"/>
              </a:defRPr>
            </a:pPr>
            <a:r>
              <a:t>✔  Quick access to information</a:t>
            </a:r>
          </a:p>
          <a:p>
            <a:pPr>
              <a:spcAft>
                <a:spcPts val="800"/>
              </a:spcAft>
              <a:defRPr sz="1050" i="1">
                <a:solidFill>
                  <a:srgbClr val="94A3B8"/>
                </a:solidFill>
                <a:latin typeface="Segoe UI"/>
              </a:defRPr>
            </a:pPr>
            <a:r>
              <a:t>     Ma’lumotga tezkor kirish</a:t>
            </a:r>
          </a:p>
          <a:p>
            <a:pPr>
              <a:spcAft>
                <a:spcPts val="100"/>
              </a:spcAft>
              <a:defRPr sz="1300" b="1">
                <a:solidFill>
                  <a:srgbClr val="FFFFFF"/>
                </a:solidFill>
                <a:latin typeface="Segoe UI"/>
              </a:defRPr>
            </a:pPr>
            <a:r>
              <a:t>✔  Educational opportunities</a:t>
            </a:r>
          </a:p>
          <a:p>
            <a:pPr>
              <a:spcAft>
                <a:spcPts val="800"/>
              </a:spcAft>
              <a:defRPr sz="1050" i="1">
                <a:solidFill>
                  <a:srgbClr val="94A3B8"/>
                </a:solidFill>
                <a:latin typeface="Segoe UI"/>
              </a:defRPr>
            </a:pPr>
            <a:r>
              <a:t>     Ta’lim imkoniyatlari</a:t>
            </a:r>
          </a:p>
          <a:p>
            <a:pPr>
              <a:spcAft>
                <a:spcPts val="100"/>
              </a:spcAft>
              <a:defRPr sz="1300" b="1">
                <a:solidFill>
                  <a:srgbClr val="FFFFFF"/>
                </a:solidFill>
                <a:latin typeface="Segoe UI"/>
              </a:defRPr>
            </a:pPr>
            <a:r>
              <a:t>✔  Entertainment</a:t>
            </a:r>
          </a:p>
          <a:p>
            <a:pPr>
              <a:spcAft>
                <a:spcPts val="800"/>
              </a:spcAft>
              <a:defRPr sz="1050" i="1">
                <a:solidFill>
                  <a:srgbClr val="94A3B8"/>
                </a:solidFill>
                <a:latin typeface="Segoe UI"/>
              </a:defRPr>
            </a:pPr>
            <a:r>
              <a:t>     Ko‘ngilochar imkoniyatlar</a:t>
            </a:r>
          </a:p>
        </p:txBody>
      </p:sp>
      <p:sp>
        <p:nvSpPr>
          <p:cNvPr id="6" name="Rounded Rectangle 5"/>
          <p:cNvSpPr/>
          <p:nvPr/>
        </p:nvSpPr>
        <p:spPr>
          <a:xfrm>
            <a:off x="6217920" y="1645920"/>
            <a:ext cx="5120640" cy="4846320"/>
          </a:xfrm>
          <a:prstGeom prst="roundRect">
            <a:avLst/>
          </a:prstGeom>
          <a:solidFill>
            <a:srgbClr val="111827"/>
          </a:solidFill>
          <a:ln w="1905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137160"/>
          <a:lstStyle/>
          <a:p>
            <a:pPr algn="ctr">
              <a:spcAft>
                <a:spcPts val="100"/>
              </a:spcAft>
              <a:defRPr sz="1800" b="1">
                <a:solidFill>
                  <a:srgbClr val="FB7185"/>
                </a:solidFill>
                <a:latin typeface="Segoe UI"/>
              </a:defRPr>
            </a:pPr>
            <a:r>
              <a:t>DISADVANTAGES</a:t>
            </a:r>
          </a:p>
          <a:p>
            <a:pPr>
              <a:spcAft>
                <a:spcPts val="1400"/>
              </a:spcAft>
              <a:defRPr sz="1200" i="1">
                <a:solidFill>
                  <a:srgbClr val="FECDD3"/>
                </a:solidFill>
                <a:latin typeface="Segoe UI"/>
              </a:defRPr>
            </a:pPr>
            <a:r>
              <a:t>KAMCHILIKLARI</a:t>
            </a:r>
          </a:p>
          <a:p>
            <a:pPr>
              <a:spcAft>
                <a:spcPts val="100"/>
              </a:spcAft>
              <a:defRPr sz="1300" b="1">
                <a:solidFill>
                  <a:srgbClr val="FFFFFF"/>
                </a:solidFill>
                <a:latin typeface="Segoe UI"/>
              </a:defRPr>
            </a:pPr>
            <a:r>
              <a:t>✖  Too much screen time</a:t>
            </a:r>
          </a:p>
          <a:p>
            <a:pPr>
              <a:spcAft>
                <a:spcPts val="800"/>
              </a:spcAft>
              <a:defRPr sz="1050" i="1">
                <a:solidFill>
                  <a:srgbClr val="94A3B8"/>
                </a:solidFill>
                <a:latin typeface="Segoe UI"/>
              </a:defRPr>
            </a:pPr>
            <a:r>
              <a:t>     Ekran qarshisida ortiqcha vaqt</a:t>
            </a:r>
          </a:p>
          <a:p>
            <a:pPr>
              <a:spcAft>
                <a:spcPts val="100"/>
              </a:spcAft>
              <a:defRPr sz="1300" b="1">
                <a:solidFill>
                  <a:srgbClr val="FFFFFF"/>
                </a:solidFill>
                <a:latin typeface="Segoe UI"/>
              </a:defRPr>
            </a:pPr>
            <a:r>
              <a:t>✖  Distraction</a:t>
            </a:r>
          </a:p>
          <a:p>
            <a:pPr>
              <a:spcAft>
                <a:spcPts val="800"/>
              </a:spcAft>
              <a:defRPr sz="1050" i="1">
                <a:solidFill>
                  <a:srgbClr val="94A3B8"/>
                </a:solidFill>
                <a:latin typeface="Segoe UI"/>
              </a:defRPr>
            </a:pPr>
            <a:r>
              <a:t>     Diqqatni chalg‘itishi</a:t>
            </a:r>
          </a:p>
          <a:p>
            <a:pPr>
              <a:spcAft>
                <a:spcPts val="100"/>
              </a:spcAft>
              <a:defRPr sz="1300" b="1">
                <a:solidFill>
                  <a:srgbClr val="FFFFFF"/>
                </a:solidFill>
                <a:latin typeface="Segoe UI"/>
              </a:defRPr>
            </a:pPr>
            <a:r>
              <a:t>✖  False information</a:t>
            </a:r>
          </a:p>
          <a:p>
            <a:pPr>
              <a:spcAft>
                <a:spcPts val="800"/>
              </a:spcAft>
              <a:defRPr sz="1050" i="1">
                <a:solidFill>
                  <a:srgbClr val="94A3B8"/>
                </a:solidFill>
                <a:latin typeface="Segoe UI"/>
              </a:defRPr>
            </a:pPr>
            <a:r>
              <a:t>     Noto‘g‘ri ma’lumotlar</a:t>
            </a:r>
          </a:p>
          <a:p>
            <a:pPr>
              <a:spcAft>
                <a:spcPts val="100"/>
              </a:spcAft>
              <a:defRPr sz="1300" b="1">
                <a:solidFill>
                  <a:srgbClr val="FFFFFF"/>
                </a:solidFill>
                <a:latin typeface="Segoe UI"/>
              </a:defRPr>
            </a:pPr>
            <a:r>
              <a:t>✖  Privacy problems</a:t>
            </a:r>
          </a:p>
          <a:p>
            <a:pPr>
              <a:spcAft>
                <a:spcPts val="800"/>
              </a:spcAft>
              <a:defRPr sz="1050" i="1">
                <a:solidFill>
                  <a:srgbClr val="94A3B8"/>
                </a:solidFill>
                <a:latin typeface="Segoe UI"/>
              </a:defRPr>
            </a:pPr>
            <a:r>
              <a:t>     Maxfiylik muammolari</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E1A"/>
        </a:solidFill>
        <a:effectLst/>
      </p:bgPr>
    </p:bg>
    <p:spTree>
      <p:nvGrpSpPr>
        <p:cNvPr id="1" name=""/>
        <p:cNvGrpSpPr/>
        <p:nvPr/>
      </p:nvGrpSpPr>
      <p:grpSpPr/>
      <p:sp>
        <p:nvSpPr>
          <p:cNvPr id="2" name="TextBox 1"/>
          <p:cNvSpPr txBox="1"/>
          <p:nvPr/>
        </p:nvSpPr>
        <p:spPr>
          <a:xfrm>
            <a:off x="822960" y="411480"/>
            <a:ext cx="7315200" cy="274320"/>
          </a:xfrm>
          <a:prstGeom prst="rect">
            <a:avLst/>
          </a:prstGeom>
          <a:noFill/>
        </p:spPr>
        <p:txBody>
          <a:bodyPr wrap="none">
            <a:spAutoFit/>
          </a:bodyPr>
          <a:lstStyle/>
          <a:p>
            <a:pPr>
              <a:defRPr sz="1000" b="1">
                <a:solidFill>
                  <a:srgbClr val="38BDF8"/>
                </a:solidFill>
                <a:latin typeface="Segoe UI"/>
              </a:defRPr>
            </a:pPr>
            <a:r>
              <a:t>FINAL THOUGHTS • SLIDE 09 OF 09</a:t>
            </a:r>
          </a:p>
        </p:txBody>
      </p:sp>
      <p:sp>
        <p:nvSpPr>
          <p:cNvPr id="3" name="TextBox 2"/>
          <p:cNvSpPr txBox="1"/>
          <p:nvPr/>
        </p:nvSpPr>
        <p:spPr>
          <a:xfrm>
            <a:off x="822960" y="731520"/>
            <a:ext cx="10545775" cy="1645920"/>
          </a:xfrm>
          <a:prstGeom prst="rect">
            <a:avLst/>
          </a:prstGeom>
          <a:noFill/>
        </p:spPr>
        <p:txBody>
          <a:bodyPr wrap="square" lIns="0" tIns="0">
            <a:spAutoFit/>
          </a:bodyPr>
          <a:lstStyle/>
          <a:p>
            <a:pPr>
              <a:spcAft>
                <a:spcPts val="400"/>
              </a:spcAft>
              <a:defRPr sz="3200" b="1">
                <a:solidFill>
                  <a:srgbClr val="FFFFFF"/>
                </a:solidFill>
                <a:latin typeface="Segoe UI"/>
              </a:defRPr>
            </a:pPr>
            <a:r>
              <a:t>“Social networks are useful when we use them wisely.”</a:t>
            </a:r>
          </a:p>
          <a:p>
            <a:pPr>
              <a:defRPr sz="1900" i="1">
                <a:solidFill>
                  <a:srgbClr val="22D3EE"/>
                </a:solidFill>
                <a:latin typeface="Segoe UI"/>
              </a:defRPr>
            </a:pPr>
            <a:r>
              <a:t>“Ijtimoiy tarmoqlardan oqilona foydalansak, ular foydali vositaga aylanishi mumkin.”</a:t>
            </a:r>
          </a:p>
        </p:txBody>
      </p:sp>
      <p:sp>
        <p:nvSpPr>
          <p:cNvPr id="4" name="Rounded Rectangle 3"/>
          <p:cNvSpPr/>
          <p:nvPr/>
        </p:nvSpPr>
        <p:spPr>
          <a:xfrm>
            <a:off x="822960" y="2468880"/>
            <a:ext cx="10545775" cy="210312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274320"/>
          <a:lstStyle/>
          <a:p>
            <a:pPr algn="ctr">
              <a:spcAft>
                <a:spcPts val="1000"/>
              </a:spcAft>
              <a:defRPr sz="1650" b="1">
                <a:solidFill>
                  <a:srgbClr val="FFFFFF"/>
                </a:solidFill>
                <a:latin typeface="Segoe UI"/>
              </a:defRPr>
            </a:pPr>
            <a:r>
              <a:t>Social networks are an important part of modern life. They help me communicate, learn and relax. However, I believe it is important to use them responsibly and keep a healthy balance between online and real life.</a:t>
            </a:r>
          </a:p>
          <a:p>
            <a:pPr>
              <a:defRPr sz="1300" i="1">
                <a:solidFill>
                  <a:srgbClr val="94A3B8"/>
                </a:solidFill>
                <a:latin typeface="Segoe UI"/>
              </a:defRPr>
            </a:pPr>
            <a:r>
              <a:t>Ijtimoiy tarmoqlar zamonaviy hayotning muhim qismidir. Ular menga muloqot qilish, o‘rganish va dam olishga yordam beradi. Biroq ulardan mas’uliyat bilan foydalanish va onlayn hamda real hayot o‘rtasida sog‘lom muvozanatni saqlash muhim deb hisoblayman.</a:t>
            </a:r>
          </a:p>
        </p:txBody>
      </p:sp>
      <p:sp>
        <p:nvSpPr>
          <p:cNvPr id="5" name="Rounded Rectangle 4"/>
          <p:cNvSpPr/>
          <p:nvPr/>
        </p:nvSpPr>
        <p:spPr>
          <a:xfrm>
            <a:off x="822960" y="4754880"/>
            <a:ext cx="10545775" cy="155448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800" b="1">
                <a:solidFill>
                  <a:srgbClr val="FFFFFF"/>
                </a:solidFill>
                <a:latin typeface="Segoe UI"/>
              </a:defRPr>
            </a:pPr>
            <a:r>
              <a:t>Thank you for your attention!</a:t>
            </a:r>
          </a:p>
          <a:p>
            <a:pPr algn="ctr">
              <a:defRPr sz="1900" i="1">
                <a:solidFill>
                  <a:srgbClr val="22D3EE"/>
                </a:solidFill>
                <a:latin typeface="Segoe UI"/>
              </a:defRPr>
            </a:pPr>
            <a:r>
              <a:t>E’tiboringiz uchun rahmat!</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